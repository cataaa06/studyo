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F0E17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F0E17"/>
                </a:solidFill>
                <a:latin typeface="Arial"/>
              </a:rPr>
              <a:t>Revenue (K EUR)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Abbonamenti</c:v>
                </c:pt>
              </c:strCache>
            </c:strRef>
          </c:tx>
          <c:spPr>
            <a:solidFill>
              <a:srgbClr val="6C5CE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0E1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Anno 1</c:v>
                  </c:pt>
                  <c:pt idx="1">
                    <c:v>Anno 2</c:v>
                  </c:pt>
                  <c:pt idx="2">
                    <c:v>Anno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96</c:v>
                </c:pt>
                <c:pt idx="2">
                  <c:v>290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Marketplace</c:v>
                </c:pt>
              </c:strCache>
            </c:strRef>
          </c:tx>
          <c:spPr>
            <a:solidFill>
              <a:srgbClr val="FF6B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0E1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Anno 1</c:v>
                  </c:pt>
                  <c:pt idx="1">
                    <c:v>Anno 2</c:v>
                  </c:pt>
                  <c:pt idx="2">
                    <c:v>Anno 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15</c:v>
                </c:pt>
                <c:pt idx="2">
                  <c:v>80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B2B</c:v>
                </c:pt>
              </c:strCache>
            </c:strRef>
          </c:tx>
          <c:spPr>
            <a:solidFill>
              <a:srgbClr val="2ED8A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0E1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Anno 1</c:v>
                  </c:pt>
                  <c:pt idx="1">
                    <c:v>Anno 2</c:v>
                  </c:pt>
                  <c:pt idx="2">
                    <c:v>Anno 3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</c:v>
                </c:pt>
                <c:pt idx="1">
                  <c:v>10</c:v>
                </c:pt>
                <c:pt idx="2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F0E1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666666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E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4572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spc="8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STUDYO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A7A7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studio diventa multiplayer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0" y="2926080"/>
            <a:ext cx="2743200" cy="36576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A7A7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 DECK — MAGGIO 2026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7A7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Francesco Catanzaro &amp; Davide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CONFIDENZIALE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F0E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IL PROBLEMA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2560320" cy="2926080"/>
          </a:xfrm>
          <a:prstGeom prst="rect">
            <a:avLst/>
          </a:prstGeom>
          <a:solidFill>
            <a:srgbClr val="F8F7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3716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6C5CE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0E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Solitario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maggior parte degli studenti studia da solo. Manca accountability e motivazione sociale.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29000" y="1188720"/>
            <a:ext cx="2560320" cy="2926080"/>
          </a:xfrm>
          <a:prstGeom prst="rect">
            <a:avLst/>
          </a:prstGeom>
          <a:solidFill>
            <a:srgbClr val="F8F7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11880" y="13716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6C5CE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11880" y="19202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0E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Frammentato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11880" y="237744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5-8 strumenti diversi per una sessione: timer, flashcard, appunti, chat, musica.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188720"/>
            <a:ext cx="2560320" cy="2926080"/>
          </a:xfrm>
          <a:prstGeom prst="rect">
            <a:avLst/>
          </a:prstGeom>
          <a:solidFill>
            <a:srgbClr val="F8F7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0" y="13716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6C5CE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00800" y="19202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0E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community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0" y="237744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Nessun luogo digitale dedicato allo studio. WhatsApp è caos, Discord è per gaming.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42976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4.6M studenti italiani senza una piattaforma dedicata allo studio collaborativo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SOLUZIONE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7A7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Duolingo dello studio collaborativo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2560320" cy="1280160"/>
          </a:xfrm>
          <a:prstGeom prst="rect">
            <a:avLst/>
          </a:prstGeom>
          <a:solidFill>
            <a:srgbClr val="1A192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5544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🎮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80160" y="16002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Lobby di Studio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9202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A7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Stanze tematiche per materia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29000" y="1463040"/>
            <a:ext cx="2560320" cy="1280160"/>
          </a:xfrm>
          <a:prstGeom prst="rect">
            <a:avLst/>
          </a:prstGeom>
          <a:solidFill>
            <a:srgbClr val="1A192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66160" y="15544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069080" y="16002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Gamificazione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069080" y="19202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A7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XP, livelli, badge, streak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463040"/>
            <a:ext cx="2560320" cy="1280160"/>
          </a:xfrm>
          <a:prstGeom prst="rect">
            <a:avLst/>
          </a:prstGeom>
          <a:solidFill>
            <a:srgbClr val="1A192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55080" y="15544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⏱️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858000" y="16002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Pomodoro Builder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0" y="19202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A7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Timer con animazione torre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2971800"/>
            <a:ext cx="2560320" cy="1280160"/>
          </a:xfrm>
          <a:prstGeom prst="rect">
            <a:avLst/>
          </a:prstGeom>
          <a:solidFill>
            <a:srgbClr val="1A192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30632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❓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280160" y="31089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Arena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34290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A7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interattivi con XP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29000" y="2971800"/>
            <a:ext cx="2560320" cy="1280160"/>
          </a:xfrm>
          <a:prstGeom prst="rect">
            <a:avLst/>
          </a:prstGeom>
          <a:solidFill>
            <a:srgbClr val="1A192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566160" y="30632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069080" y="31089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Tutor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069080" y="34290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A7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Assistente studio intelligente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2971800"/>
            <a:ext cx="2560320" cy="1280160"/>
          </a:xfrm>
          <a:prstGeom prst="rect">
            <a:avLst/>
          </a:prstGeom>
          <a:solidFill>
            <a:srgbClr val="1A192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355080" y="30632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🎵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858000" y="31089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Suoni Ambientali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58000" y="34290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A7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ambienti generati in real-time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" y="45720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live: cataaa06.github.io/Studyo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F0E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IL MERCATO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920240" y="1371600"/>
            <a:ext cx="2560320" cy="2560320"/>
          </a:xfrm>
          <a:prstGeom prst="ellipse">
            <a:avLst/>
          </a:prstGeom>
          <a:solidFill>
            <a:srgbClr val="6C5CE7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920240" y="20574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920240" y="23774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F0E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$142B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920240" y="2788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EdTech Europa 2033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480560" y="1645920"/>
            <a:ext cx="2011680" cy="2011680"/>
          </a:xfrm>
          <a:prstGeom prst="ellipse">
            <a:avLst/>
          </a:prstGeom>
          <a:solidFill>
            <a:srgbClr val="6C5CE7">
              <a:alpha val="8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480560" y="2057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480560" y="23774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F0E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€370M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480560" y="2788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Studenti Italia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766560" y="1920240"/>
            <a:ext cx="1463040" cy="1463040"/>
          </a:xfrm>
          <a:prstGeom prst="ellipse">
            <a:avLst/>
          </a:prstGeom>
          <a:solidFill>
            <a:srgbClr val="6C5CE7">
              <a:alpha val="8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766560" y="20574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766560" y="2377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F0E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€40K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766560" y="2788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 1 target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365760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5CE7"/>
                </a:solidFill>
              </a:rPr>
              <a:t>CAGR 12,85%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  EdTech Europa 2025-2033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6C5CE7"/>
                </a:solidFill>
              </a:rPr>
              <a:t>2M universitari + 2.6M superiori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  Target diretto in Italia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6C5CE7"/>
                </a:solidFill>
              </a:rPr>
              <a:t>Zero competitor italiani dominanti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  Nello studio gamificato collaborativo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MODEL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7863840" cy="1097280"/>
          </a:xfrm>
          <a:prstGeom prst="rect">
            <a:avLst/>
          </a:prstGeom>
          <a:solidFill>
            <a:srgbClr val="1A192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188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Freemium → Pro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€4,99/mese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0" y="123444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A7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illimitati, AI avanzato, lobby private, stats, badge esclusivi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98080" y="11430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60%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2377440"/>
            <a:ext cx="7863840" cy="1097280"/>
          </a:xfrm>
          <a:prstGeom prst="rect">
            <a:avLst/>
          </a:prstGeom>
          <a:solidFill>
            <a:srgbClr val="1A192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2468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 Appunti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2834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commissione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0" y="251460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A7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Studenti vendono appunti verificati, rating system, pack per esame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498080" y="24231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25%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0080" y="3657600"/>
            <a:ext cx="7863840" cy="1097280"/>
          </a:xfrm>
          <a:prstGeom prst="rect">
            <a:avLst/>
          </a:prstGeom>
          <a:solidFill>
            <a:srgbClr val="1A192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3749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Campus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4114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€2-5/studente/anno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114800" y="379476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A7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White-label per università, dashboard analytics, integrazione LMS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98080" y="370332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15%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0080" y="45720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7A7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Prezzo studente: €2,99/mese con email .edu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F0E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MVP STATUS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è un PowerPoint. È un prodotto reale.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05840" y="1371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E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reale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1645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+ Email/Password via Firebase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0" y="13716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120640" y="1371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E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lobby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120640" y="1645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Materie universitarie italiane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1488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2148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E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Gamificazione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2423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XP, 6 livelli, badge, streak, sfide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21488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120640" y="2148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E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Timer Pomodoro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20640" y="2423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animazione torre interattiva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29260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2926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E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+ Flashcard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3200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60+ domande, ripetizione spaziata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29260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120640" y="2926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E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Suoni ambientali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120640" y="3200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suoni via Web Audio API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37033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3703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E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Profilo utente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05840" y="3977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Statistiche, badge, attività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0" y="37033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120640" y="3703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E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system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120640" y="3977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Salvato su Firestore cloud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4480560"/>
            <a:ext cx="7863840" cy="457200"/>
          </a:xfrm>
          <a:prstGeom prst="rect">
            <a:avLst/>
          </a:prstGeom>
          <a:solidFill>
            <a:srgbClr val="F0EDFF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4805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Provalo: cataaa06.github.io/Studyo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GO-TO-MARKET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1188720" cy="100584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1K utenti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920240" y="1097280"/>
            <a:ext cx="6583680" cy="1005840"/>
          </a:xfrm>
          <a:prstGeom prst="rect">
            <a:avLst/>
          </a:prstGeom>
          <a:solidFill>
            <a:srgbClr val="1A1929"/>
          </a:solidFill>
          <a:ln/>
        </p:spPr>
      </p:sp>
      <p:sp>
        <p:nvSpPr>
          <p:cNvPr id="7" name="Text 5"/>
          <p:cNvSpPr/>
          <p:nvPr/>
        </p:nvSpPr>
        <p:spPr>
          <a:xfrm>
            <a:off x="2103120" y="1188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UNIMORE Seed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0" y="11887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7A7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Mesi 1-3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03120" y="155448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A7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Campus seeding, gruppi studio, passaparola, social "study with me"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331720"/>
            <a:ext cx="1188720" cy="100584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4231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7432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10K utenti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920240" y="2331720"/>
            <a:ext cx="6583680" cy="1005840"/>
          </a:xfrm>
          <a:prstGeom prst="rect">
            <a:avLst/>
          </a:prstGeom>
          <a:solidFill>
            <a:srgbClr val="1A1929"/>
          </a:solidFill>
          <a:ln/>
        </p:spPr>
      </p:sp>
      <p:sp>
        <p:nvSpPr>
          <p:cNvPr id="14" name="Text 12"/>
          <p:cNvSpPr/>
          <p:nvPr/>
        </p:nvSpPr>
        <p:spPr>
          <a:xfrm>
            <a:off x="2103120" y="2423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Multi-Campus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858000" y="24231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7A7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Mesi 4-8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03120" y="278892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A7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università, ambassador program, competizioni inter-ateneo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566160"/>
            <a:ext cx="1188720" cy="100584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6576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39776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50K+ utenti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920240" y="3566160"/>
            <a:ext cx="6583680" cy="1005840"/>
          </a:xfrm>
          <a:prstGeom prst="rect">
            <a:avLst/>
          </a:prstGeom>
          <a:solidFill>
            <a:srgbClr val="1A1929"/>
          </a:solidFill>
          <a:ln/>
        </p:spPr>
      </p:sp>
      <p:sp>
        <p:nvSpPr>
          <p:cNvPr id="21" name="Text 19"/>
          <p:cNvSpPr/>
          <p:nvPr/>
        </p:nvSpPr>
        <p:spPr>
          <a:xfrm>
            <a:off x="2103120" y="3657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858000" y="36576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7A7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Mesi 9-18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103120" y="402336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A7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PR/media, creator partnership, app nativa, lancio Pro + marketplace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45720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7A7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 target: €2-5 | 40% acquisizione virale | Focus pre-sessioni esame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F0E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PROIEZIONI (3 ANNI)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conservativo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50292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1371600"/>
            <a:ext cx="2743200" cy="64008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6" name="Text 3"/>
          <p:cNvSpPr/>
          <p:nvPr/>
        </p:nvSpPr>
        <p:spPr>
          <a:xfrm>
            <a:off x="6126480" y="13898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C5CE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200K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126480" y="16916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Utenti Anno 3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943600" y="2194560"/>
            <a:ext cx="2743200" cy="64008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9" name="Text 6"/>
          <p:cNvSpPr/>
          <p:nvPr/>
        </p:nvSpPr>
        <p:spPr>
          <a:xfrm>
            <a:off x="6126480" y="22128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C5CE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80K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126480" y="25146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MAU Anno 3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943600" y="3017520"/>
            <a:ext cx="2743200" cy="64008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12" name="Text 9"/>
          <p:cNvSpPr/>
          <p:nvPr/>
        </p:nvSpPr>
        <p:spPr>
          <a:xfrm>
            <a:off x="6126480" y="30358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C5CE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€470K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126480" y="33375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Anno 3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943600" y="3840480"/>
            <a:ext cx="2743200" cy="64008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15" name="Text 12"/>
          <p:cNvSpPr/>
          <p:nvPr/>
        </p:nvSpPr>
        <p:spPr>
          <a:xfrm>
            <a:off x="6126480" y="38587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C5CE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Mese 18-24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126480" y="41605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Breakeven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40080" y="43891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Economics: LTV/CAC 7-10x | Churn target &lt;10% | Conversion 3-5%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VS COMPETITOR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97280"/>
          <a:ext cx="7863840" cy="3200400"/>
        </p:xfrm>
        <a:graphic>
          <a:graphicData uri="http://schemas.openxmlformats.org/drawingml/2006/table">
            <a:tbl>
              <a:tblPr/>
              <a:tblGrid>
                <a:gridCol w="1463040"/>
                <a:gridCol w="1069848"/>
                <a:gridCol w="1069848"/>
                <a:gridCol w="1069848"/>
                <a:gridCol w="1069848"/>
                <a:gridCol w="1069848"/>
                <a:gridCol w="1069848"/>
              </a:tblGrid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Social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Gamification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Timer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Quiz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AI Tutor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Community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929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STUDYO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5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✅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5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✅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5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✅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5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✅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5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✅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5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✅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5CE7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Forest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5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A7A7BE"/>
                          </a:solidFill>
                        </a:rPr>
                        <a:t>❌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5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A7A7BE"/>
                          </a:solidFill>
                        </a:rPr>
                        <a:t>🟡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5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A7A7BE"/>
                          </a:solidFill>
                        </a:rPr>
                        <a:t>✅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5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A7A7BE"/>
                          </a:solidFill>
                        </a:rPr>
                        <a:t>❌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5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A7A7BE"/>
                          </a:solidFill>
                        </a:rPr>
                        <a:t>❌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5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A7A7BE"/>
                          </a:solidFill>
                        </a:rPr>
                        <a:t>❌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52B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Quizlet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A7A7BE"/>
                          </a:solidFill>
                        </a:rPr>
                        <a:t>❌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A7A7BE"/>
                          </a:solidFill>
                        </a:rPr>
                        <a:t>🟡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A7A7BE"/>
                          </a:solidFill>
                        </a:rPr>
                        <a:t>❌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A7A7BE"/>
                          </a:solidFill>
                        </a:rPr>
                        <a:t>✅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A7A7BE"/>
                          </a:solidFill>
                        </a:rPr>
                        <a:t>🟡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A7A7BE"/>
                          </a:solidFill>
                        </a:rPr>
                        <a:t>❌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929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StudyStream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5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A7A7BE"/>
                          </a:solidFill>
                        </a:rPr>
                        <a:t>✅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5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A7A7BE"/>
                          </a:solidFill>
                        </a:rPr>
                        <a:t>❌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5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A7A7BE"/>
                          </a:solidFill>
                        </a:rPr>
                        <a:t>❌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5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A7A7BE"/>
                          </a:solidFill>
                        </a:rPr>
                        <a:t>❌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5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A7A7BE"/>
                          </a:solidFill>
                        </a:rPr>
                        <a:t>❌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5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A7A7BE"/>
                          </a:solidFill>
                        </a:rPr>
                        <a:t>🟡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52B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Discord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A7A7BE"/>
                          </a:solidFill>
                        </a:rPr>
                        <a:t>✅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A7A7BE"/>
                          </a:solidFill>
                        </a:rPr>
                        <a:t>❌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A7A7BE"/>
                          </a:solidFill>
                        </a:rPr>
                        <a:t>❌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A7A7BE"/>
                          </a:solidFill>
                        </a:rPr>
                        <a:t>❌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A7A7BE"/>
                          </a:solidFill>
                        </a:rPr>
                        <a:t>❌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A7A7BE"/>
                          </a:solidFill>
                        </a:rPr>
                        <a:t>✅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929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45720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Studyo è l'unica piattaforma che integra TUTTO in un'esperienza gamificata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F0E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IL TEAM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3749040" cy="2011680"/>
          </a:xfrm>
          <a:prstGeom prst="rect">
            <a:avLst/>
          </a:prstGeom>
          <a:solidFill>
            <a:srgbClr val="F8F7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280160"/>
            <a:ext cx="731520" cy="731520"/>
          </a:xfrm>
          <a:prstGeom prst="rect">
            <a:avLst/>
          </a:prstGeom>
          <a:solidFill>
            <a:srgbClr val="6C5CE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FC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828800" y="1280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0E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Francesco Catanzaro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828800" y="1600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 &amp; Product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1031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Economia e Marketing Internazionale, UNIMORE. Visione prodotto, sviluppo MVP, strategia.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749040" cy="2011680"/>
          </a:xfrm>
          <a:prstGeom prst="rect">
            <a:avLst/>
          </a:prstGeom>
          <a:solidFill>
            <a:srgbClr val="F8F7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0" y="1280160"/>
            <a:ext cx="731520" cy="731520"/>
          </a:xfrm>
          <a:prstGeom prst="rect">
            <a:avLst/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943600" y="1280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0E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Davide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943600" y="1600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Co-founder &amp; Growth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0" y="21031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UNIMORE. Community building, go-to-market, growth. Co-ideatore del progetto.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86000" y="3383280"/>
            <a:ext cx="4572000" cy="1188720"/>
          </a:xfrm>
          <a:prstGeom prst="rect">
            <a:avLst/>
          </a:prstGeom>
          <a:solidFill>
            <a:srgbClr val="0F0E17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468880" y="35204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CERCHIAMO CO-FOUNDER TECNICO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468880" y="38862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A7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dev (React/Node/Firebase) | Equity 20-30% | Ruolo CTO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47091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Founder-market fit: siamo il nostro target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RICHIESTA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7863840" cy="914400"/>
          </a:xfrm>
          <a:prstGeom prst="rect">
            <a:avLst/>
          </a:prstGeom>
          <a:solidFill>
            <a:srgbClr val="1A1929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280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6C5CE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€20-50K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1691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7A7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PRE-SEED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0" y="13716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MVP+, SRLS, marketing, primi 5K utenti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286000"/>
            <a:ext cx="7863840" cy="914400"/>
          </a:xfrm>
          <a:prstGeom prst="rect">
            <a:avLst/>
          </a:prstGeom>
          <a:solidFill>
            <a:srgbClr val="1A1929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377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6C5CE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CTO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14400" y="2788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7A7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CO-FOUNDER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0" y="24688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full-stack, equity 20-30%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383280"/>
            <a:ext cx="7863840" cy="914400"/>
          </a:xfrm>
          <a:prstGeom prst="rect">
            <a:avLst/>
          </a:prstGeom>
          <a:solidFill>
            <a:srgbClr val="1A1929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474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6C5CE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MENTOR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14400" y="3886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7A7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0" y="35661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Ecosistema startup Emilia-Romagna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4297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7A7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 OFFRIAMO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46177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A7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live e funzionante | Mercato ~€370M in Italia | Detrazione IRPEF fino al 65% per investitori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28800"/>
            <a:ext cx="9144000" cy="36576"/>
          </a:xfrm>
          <a:prstGeom prst="rect">
            <a:avLst/>
          </a:prstGeom>
          <a:solidFill>
            <a:srgbClr val="6C5CE7">
              <a:alpha val="5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spc="6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STUDYO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A7A7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Perché studiare da soli è noioso.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Francesco Catanzaro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383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fra.cata2006@gmail.com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703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cataaa06.github.io/Studyo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Grazie!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Studyo — Pitch Deck</dc:title>
  <dc:subject>PptxGenJS Presentation</dc:subject>
  <dc:creator>Francesco Catanzaro</dc:creator>
  <cp:lastModifiedBy>Francesco Catanzaro</cp:lastModifiedBy>
  <cp:revision>1</cp:revision>
  <dcterms:created xsi:type="dcterms:W3CDTF">2026-05-28T14:13:51Z</dcterms:created>
  <dcterms:modified xsi:type="dcterms:W3CDTF">2026-05-28T14:13:51Z</dcterms:modified>
</cp:coreProperties>
</file>